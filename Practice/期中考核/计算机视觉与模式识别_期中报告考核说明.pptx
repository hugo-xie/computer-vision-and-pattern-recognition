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本课程考核说明。参考用户提供的section_3_project.pdf中应用与方法两条路线的组织思路。考核日期、个人作业、报告、代码及篇幅口径依据任课教师在本次对话中的要求。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8C561-FFB1-43D5-8F00-0C56FC44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CC40D70-D1DD-418F-91B9-C47800605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22AF45-5749-490B-8000-8FDE84F5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EE0E0CE-F2B8-482D-B553-1D857E979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DFA4905-5954-436D-9BE9-9E8C1FDA1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DD6F559-3CCF-43EF-9F75-2A53A7E2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134181B-C295-41C4-8232-1F03BDB0E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631E1F1-5082-4412-8268-57AA175F80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26BF58-12B3-4074-B832-9EC3DA88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652CD8D-EFD1-4179-B91A-58DCBAE0E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南京信息工程大学">
            <a:extLst>
              <a:ext uri="{FF2B5EF4-FFF2-40B4-BE49-F238E27FC236}">
                <a16:creationId xmlns:a16="http://schemas.microsoft.com/office/drawing/2014/main" id="{8D763CE7-0E86-482C-88B0-7C124A355E42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南京信息工程大学</a:t>
            </a:r>
          </a:p>
        </p:txBody>
      </p:sp>
      <p:sp>
        <p:nvSpPr>
          <p:cNvPr id="2" name="计算机视觉与模式识别">
            <a:extLst>
              <a:ext uri="{FF2B5EF4-FFF2-40B4-BE49-F238E27FC236}">
                <a16:creationId xmlns:a16="http://schemas.microsoft.com/office/drawing/2014/main" id="{17427DB2-04DD-4733-9B2B-E7D71E551416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42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42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计算机视觉与模式识别</a:t>
            </a:r>
          </a:p>
        </p:txBody>
      </p:sp>
      <p:sp>
        <p:nvSpPr>
          <p:cNvPr id="3" name="期中报告考核">
            <a:extLst>
              <a:ext uri="{FF2B5EF4-FFF2-40B4-BE49-F238E27FC236}">
                <a16:creationId xmlns:a16="http://schemas.microsoft.com/office/drawing/2014/main" id="{7600CA02-E26C-4486-8419-EDA5118ACC33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668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51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51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期中报告考核</a:t>
            </a:r>
          </a:p>
        </p:txBody>
      </p:sp>
    </p:spTree>
    <p:extLst>
      <p:ext uri="{BB962C8B-B14F-4D97-AF65-F5344CB8AC3E}">
        <p14:creationId xmlns:p14="http://schemas.microsoft.com/office/powerpoint/2010/main" val="152766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考核形式与提交内容">
            <a:extLst>
              <a:ext uri="{FF2B5EF4-FFF2-40B4-BE49-F238E27FC236}">
                <a16:creationId xmlns:a16="http://schemas.microsoft.com/office/drawing/2014/main" id="{650F5CE4-C160-401F-A85C-279710892F5A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考核形式与提交内容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61AA55FF-43F5-45F4-A1A4-69B82FB9C34D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  <p:sp>
        <p:nvSpPr>
          <p:cNvPr id="3" name="个人作业">
            <a:extLst>
              <a:ext uri="{FF2B5EF4-FFF2-40B4-BE49-F238E27FC236}">
                <a16:creationId xmlns:a16="http://schemas.microsoft.com/office/drawing/2014/main" id="{0DF3B39B-2A8D-4EE4-8353-483C3F96BBF3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个人作业</a:t>
            </a:r>
          </a:p>
        </p:txBody>
      </p:sp>
      <p:sp>
        <p:nvSpPr>
          <p:cNvPr id="4" name="独立完成一个与视觉数据有关的项目，说明本人完成的工作。">
            <a:extLst>
              <a:ext uri="{FF2B5EF4-FFF2-40B4-BE49-F238E27FC236}">
                <a16:creationId xmlns:a16="http://schemas.microsoft.com/office/drawing/2014/main" id="{4E892EFC-AF36-4EC7-BF82-98297ADA3F88}"/>
              </a:ext>
            </a:extLst>
          </p:cNvPr>
          <p:cNvSpPr>
            <a:spLocks noGrp="1"/>
          </p:cNvSpPr>
          <p:nvPr/>
        </p:nvSpPr>
        <p:spPr>
          <a:xfrm>
            <a:off x="2857500" y="1600200"/>
            <a:ext cx="8477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独立完成一个与视觉数据有关的项目，说明本人完成的工作。</a:t>
            </a:r>
          </a:p>
        </p:txBody>
      </p:sp>
      <p:sp>
        <p:nvSpPr>
          <p:cNvPr id="5" name="纸质报告">
            <a:extLst>
              <a:ext uri="{FF2B5EF4-FFF2-40B4-BE49-F238E27FC236}">
                <a16:creationId xmlns:a16="http://schemas.microsoft.com/office/drawing/2014/main" id="{201438B2-A9C9-48A7-A8AA-C8D70D263BB1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报告</a:t>
            </a:r>
          </a:p>
        </p:txBody>
      </p:sp>
      <p:sp>
        <p:nvSpPr>
          <p:cNvPr id="6" name="正文8–10页、单栏。封面和参考文献不计入，摘要计入正文">
            <a:extLst>
              <a:ext uri="{FF2B5EF4-FFF2-40B4-BE49-F238E27FC236}">
                <a16:creationId xmlns:a16="http://schemas.microsoft.com/office/drawing/2014/main" id="{BC38DFF6-331F-4F02-8345-CA0DE40D7477}"/>
              </a:ext>
            </a:extLst>
          </p:cNvPr>
          <p:cNvSpPr>
            <a:spLocks noGrp="1"/>
          </p:cNvSpPr>
          <p:nvPr/>
        </p:nvSpPr>
        <p:spPr>
          <a:xfrm>
            <a:off x="2857500" y="2628900"/>
            <a:ext cx="8477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正文8–10页、单栏。封面和参考文献不计入，摘要计入正文。</a:t>
            </a:r>
          </a:p>
        </p:txBody>
      </p:sp>
      <p:sp>
        <p:nvSpPr>
          <p:cNvPr id="7" name="项目代码">
            <a:extLst>
              <a:ext uri="{FF2B5EF4-FFF2-40B4-BE49-F238E27FC236}">
                <a16:creationId xmlns:a16="http://schemas.microsoft.com/office/drawing/2014/main" id="{ADBCF0A5-9190-46B8-A85B-6A58D65838D3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项目代码</a:t>
            </a:r>
          </a:p>
        </p:txBody>
      </p:sp>
      <p:sp>
        <p:nvSpPr>
          <p:cNvPr id="8" name="提交可运行源代码、环境依赖、README及复现所需配置。">
            <a:extLst>
              <a:ext uri="{FF2B5EF4-FFF2-40B4-BE49-F238E27FC236}">
                <a16:creationId xmlns:a16="http://schemas.microsoft.com/office/drawing/2014/main" id="{52417C81-5E30-47BB-9BA1-F69A7ECDEE3C}"/>
              </a:ext>
            </a:extLst>
          </p:cNvPr>
          <p:cNvSpPr>
            <a:spLocks noGrp="1"/>
          </p:cNvSpPr>
          <p:nvPr/>
        </p:nvSpPr>
        <p:spPr>
          <a:xfrm>
            <a:off x="2857500" y="3657600"/>
            <a:ext cx="8477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提交可运行源代码、环境依赖、README及复现所需配置。</a:t>
            </a:r>
          </a:p>
        </p:txBody>
      </p:sp>
      <p:sp>
        <p:nvSpPr>
          <p:cNvPr id="9" name="完成时间">
            <a:extLst>
              <a:ext uri="{FF2B5EF4-FFF2-40B4-BE49-F238E27FC236}">
                <a16:creationId xmlns:a16="http://schemas.microsoft.com/office/drawing/2014/main" id="{765FF45D-5989-428D-AA92-2338DDF9054D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完成时间</a:t>
            </a:r>
          </a:p>
        </p:txBody>
      </p:sp>
      <p:sp>
        <p:nvSpPr>
          <p:cNvPr id="10" name="准备时间约三周，2026年11月14日截止。">
            <a:extLst>
              <a:ext uri="{FF2B5EF4-FFF2-40B4-BE49-F238E27FC236}">
                <a16:creationId xmlns:a16="http://schemas.microsoft.com/office/drawing/2014/main" id="{BD84F532-4698-4D9C-90B2-437731A8D004}"/>
              </a:ext>
            </a:extLst>
          </p:cNvPr>
          <p:cNvSpPr>
            <a:spLocks noGrp="1"/>
          </p:cNvSpPr>
          <p:nvPr/>
        </p:nvSpPr>
        <p:spPr>
          <a:xfrm>
            <a:off x="2857500" y="4686300"/>
            <a:ext cx="8477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时间约三周，2026年11月14日截止。</a:t>
            </a:r>
          </a:p>
        </p:txBody>
      </p:sp>
    </p:spTree>
    <p:extLst>
      <p:ext uri="{BB962C8B-B14F-4D97-AF65-F5344CB8AC3E}">
        <p14:creationId xmlns:p14="http://schemas.microsoft.com/office/powerpoint/2010/main" val="1479309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两类选题与对应证据">
            <a:extLst>
              <a:ext uri="{FF2B5EF4-FFF2-40B4-BE49-F238E27FC236}">
                <a16:creationId xmlns:a16="http://schemas.microsoft.com/office/drawing/2014/main" id="{5CB02305-F912-4598-842A-37C6DFA68893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两类选题与对应证据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31D754F9-25D5-4F7B-B8A8-B01EA7DE9AB1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F44C3B0-D0AA-4FC1-BDEB-FFB1F5DE5219}"/>
              </a:ext>
            </a:extLst>
          </p:cNvPr>
          <p:cNvGraphicFramePr/>
          <p:nvPr/>
        </p:nvGraphicFramePr>
        <p:xfrm>
          <a:off x="666750" y="1524000"/>
          <a:ext cx="10858500" cy="40957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维度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应用类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算法类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核心问题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这个视觉应用能解决什么实际问题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自己的改动是否改善了原方法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主要工作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完成一个能运行的系统并测试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完成一项小改动并与原方法比较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关键证据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功能测试、运行结果、问题分析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原方法与改进方法的结果比较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共通要求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有本人工作，有真实实验，有可复现代码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有本人工作，有真实实验，有可复现代码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6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项目范围与完成标准">
            <a:extLst>
              <a:ext uri="{FF2B5EF4-FFF2-40B4-BE49-F238E27FC236}">
                <a16:creationId xmlns:a16="http://schemas.microsoft.com/office/drawing/2014/main" id="{E58C726F-AEE9-4F24-92F7-C7E16F0189EA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项目范围与完成标准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AF2B75B6-6B56-49BD-A232-D38FC380AD90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04</a:t>
            </a:r>
          </a:p>
        </p:txBody>
      </p:sp>
      <p:sp>
        <p:nvSpPr>
          <p:cNvPr id="3" name="任务明确">
            <a:extLst>
              <a:ext uri="{FF2B5EF4-FFF2-40B4-BE49-F238E27FC236}">
                <a16:creationId xmlns:a16="http://schemas.microsoft.com/office/drawing/2014/main" id="{7C07FA72-EBB9-4FC6-B565-66B2A3D35BA5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任务明确</a:t>
            </a:r>
          </a:p>
        </p:txBody>
      </p:sp>
      <p:sp>
        <p:nvSpPr>
          <p:cNvPr id="4" name="写清输入是什么、输出是什么，以及怎样判断任务完成。">
            <a:extLst>
              <a:ext uri="{FF2B5EF4-FFF2-40B4-BE49-F238E27FC236}">
                <a16:creationId xmlns:a16="http://schemas.microsoft.com/office/drawing/2014/main" id="{BE80E7EF-8C56-4496-95D0-A131929A15E8}"/>
              </a:ext>
            </a:extLst>
          </p:cNvPr>
          <p:cNvSpPr>
            <a:spLocks noGrp="1"/>
          </p:cNvSpPr>
          <p:nvPr/>
        </p:nvSpPr>
        <p:spPr>
          <a:xfrm>
            <a:off x="2857500" y="1600200"/>
            <a:ext cx="8477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写清输入是什么、输出是什么，以及怎样判断任务完成。</a:t>
            </a:r>
          </a:p>
        </p:txBody>
      </p:sp>
      <p:sp>
        <p:nvSpPr>
          <p:cNvPr id="5" name="方法可解释">
            <a:extLst>
              <a:ext uri="{FF2B5EF4-FFF2-40B4-BE49-F238E27FC236}">
                <a16:creationId xmlns:a16="http://schemas.microsoft.com/office/drawing/2014/main" id="{465E6BD7-4A5B-4C76-95AB-2517BF782C5D}"/>
              </a:ext>
            </a:extLst>
          </p:cNvPr>
          <p:cNvSpPr>
            <a:spLocks noGrp="1"/>
          </p:cNvSpPr>
          <p:nvPr/>
        </p:nvSpPr>
        <p:spPr>
          <a:xfrm>
            <a:off x="666750" y="2600325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方法可解释</a:t>
            </a:r>
          </a:p>
        </p:txBody>
      </p:sp>
      <p:sp>
        <p:nvSpPr>
          <p:cNvPr id="6" name="使用课堂方法或自学方法，说明方法选择、关键参数与本人改动">
            <a:extLst>
              <a:ext uri="{FF2B5EF4-FFF2-40B4-BE49-F238E27FC236}">
                <a16:creationId xmlns:a16="http://schemas.microsoft.com/office/drawing/2014/main" id="{8C3B01F0-0B87-4D45-8AA1-B2FF494FBCCB}"/>
              </a:ext>
            </a:extLst>
          </p:cNvPr>
          <p:cNvSpPr>
            <a:spLocks noGrp="1"/>
          </p:cNvSpPr>
          <p:nvPr/>
        </p:nvSpPr>
        <p:spPr>
          <a:xfrm>
            <a:off x="2857500" y="2600325"/>
            <a:ext cx="8477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使用课堂方法或自学方法，说明方法选择、关键参数与本人改动。</a:t>
            </a:r>
          </a:p>
        </p:txBody>
      </p:sp>
      <p:sp>
        <p:nvSpPr>
          <p:cNvPr id="7" name="结果有依据">
            <a:extLst>
              <a:ext uri="{FF2B5EF4-FFF2-40B4-BE49-F238E27FC236}">
                <a16:creationId xmlns:a16="http://schemas.microsoft.com/office/drawing/2014/main" id="{5C20D5D6-32B9-44CA-86C4-CEC9130A8C72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结果有依据</a:t>
            </a:r>
          </a:p>
        </p:txBody>
      </p:sp>
      <p:sp>
        <p:nvSpPr>
          <p:cNvPr id="8" name="设置一个简单合理的对照，用测试数据评价，分析一种不理想的">
            <a:extLst>
              <a:ext uri="{FF2B5EF4-FFF2-40B4-BE49-F238E27FC236}">
                <a16:creationId xmlns:a16="http://schemas.microsoft.com/office/drawing/2014/main" id="{15D44642-41E8-4F09-970A-AD71AB3A7E00}"/>
              </a:ext>
            </a:extLst>
          </p:cNvPr>
          <p:cNvSpPr>
            <a:spLocks noGrp="1"/>
          </p:cNvSpPr>
          <p:nvPr/>
        </p:nvSpPr>
        <p:spPr>
          <a:xfrm>
            <a:off x="2857500" y="3600450"/>
            <a:ext cx="8477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根据任务目标开展测试，展示实际结果，分析一种不理想的情况。</a:t>
            </a:r>
          </a:p>
        </p:txBody>
      </p:sp>
      <p:sp>
        <p:nvSpPr>
          <p:cNvPr id="9" name="工作可复现">
            <a:extLst>
              <a:ext uri="{FF2B5EF4-FFF2-40B4-BE49-F238E27FC236}">
                <a16:creationId xmlns:a16="http://schemas.microsoft.com/office/drawing/2014/main" id="{9FB003E0-A5E9-421A-AC7B-F00194CE8172}"/>
              </a:ext>
            </a:extLst>
          </p:cNvPr>
          <p:cNvSpPr>
            <a:spLocks noGrp="1"/>
          </p:cNvSpPr>
          <p:nvPr/>
        </p:nvSpPr>
        <p:spPr>
          <a:xfrm>
            <a:off x="666750" y="4600575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工作可复现</a:t>
            </a:r>
          </a:p>
        </p:txBody>
      </p:sp>
      <p:sp>
        <p:nvSpPr>
          <p:cNvPr id="10" name="报告中的主要表格和图，应能通过提交代码重新得到。">
            <a:extLst>
              <a:ext uri="{FF2B5EF4-FFF2-40B4-BE49-F238E27FC236}">
                <a16:creationId xmlns:a16="http://schemas.microsoft.com/office/drawing/2014/main" id="{FBFB76A4-B4DD-49AF-904A-C5F6A9F990DB}"/>
              </a:ext>
            </a:extLst>
          </p:cNvPr>
          <p:cNvSpPr>
            <a:spLocks noGrp="1"/>
          </p:cNvSpPr>
          <p:nvPr/>
        </p:nvSpPr>
        <p:spPr>
          <a:xfrm>
            <a:off x="2857500" y="4600575"/>
            <a:ext cx="8477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报告中的主要表格和图，应能通过提交代码重新得到。</a:t>
            </a:r>
          </a:p>
        </p:txBody>
      </p:sp>
      <p:sp>
        <p:nvSpPr>
          <p:cNvPr id="11" name="可以使用开源库和预训练模型。评价依据是问题、实现与实验质">
            <a:extLst>
              <a:ext uri="{FF2B5EF4-FFF2-40B4-BE49-F238E27FC236}">
                <a16:creationId xmlns:a16="http://schemas.microsoft.com/office/drawing/2014/main" id="{BAA9FB6D-E5D2-43D6-BD2D-D1D83F76240C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可以使用开源库和预训练模型。评价依据是问题、实现与实验质量。</a:t>
            </a:r>
          </a:p>
        </p:txBody>
      </p:sp>
    </p:spTree>
    <p:extLst>
      <p:ext uri="{BB962C8B-B14F-4D97-AF65-F5344CB8AC3E}">
        <p14:creationId xmlns:p14="http://schemas.microsoft.com/office/powerpoint/2010/main" val="105696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应用类自主选题要求">
            <a:extLst>
              <a:ext uri="{FF2B5EF4-FFF2-40B4-BE49-F238E27FC236}">
                <a16:creationId xmlns:a16="http://schemas.microsoft.com/office/drawing/2014/main" id="{21D664D6-6501-4F32-83AC-BDD82843A542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应用类自主选题要求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9B147EA7-ACB7-46A2-9E8B-66D3A99FDA62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05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90E53F5-3D33-4BB3-BF98-649D5599AAD7}"/>
              </a:ext>
            </a:extLst>
          </p:cNvPr>
          <p:cNvGraphicFramePr/>
          <p:nvPr/>
        </p:nvGraphicFramePr>
        <p:xfrm>
          <a:off x="666750" y="1524000"/>
          <a:ext cx="10858500" cy="4095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需要自行确定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应说明的问题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报告中的依据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需求来源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谁在什么情境下遇到什么困难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本人观察、使用体验或需求调研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任务边界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系统接收什么输入，产生什么输出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明确的功能范围与使用条件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数据条件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能否取得适合任务的数据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数据来源、质量与获取可行性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应用价值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什么结果能说明应用有用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与需求对应的验收标准和测试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自行提出具体题目，确定数据、技术路线与验证方案。可使用课">
            <a:extLst>
              <a:ext uri="{FF2B5EF4-FFF2-40B4-BE49-F238E27FC236}">
                <a16:creationId xmlns:a16="http://schemas.microsoft.com/office/drawing/2014/main" id="{284A735A-59F8-4C19-8398-D5B25B7188A6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自行提出具体题目，确定数据、技术路线与验证方案。可使用课堂或自学知识。</a:t>
            </a:r>
          </a:p>
        </p:txBody>
      </p:sp>
    </p:spTree>
    <p:extLst>
      <p:ext uri="{BB962C8B-B14F-4D97-AF65-F5344CB8AC3E}">
        <p14:creationId xmlns:p14="http://schemas.microsoft.com/office/powerpoint/2010/main" val="77711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应用类需要提交的证据">
            <a:extLst>
              <a:ext uri="{FF2B5EF4-FFF2-40B4-BE49-F238E27FC236}">
                <a16:creationId xmlns:a16="http://schemas.microsoft.com/office/drawing/2014/main" id="{1F96640A-6644-40D4-959A-5EE5F7A3992B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应用类需要提交的证据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34DD61B0-A265-4365-A36C-AFF246A5A9C0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06</a:t>
            </a:r>
          </a:p>
        </p:txBody>
      </p:sp>
      <p:sp>
        <p:nvSpPr>
          <p:cNvPr id="3" name="任务与设计">
            <a:extLst>
              <a:ext uri="{FF2B5EF4-FFF2-40B4-BE49-F238E27FC236}">
                <a16:creationId xmlns:a16="http://schemas.microsoft.com/office/drawing/2014/main" id="{8CFDC695-8A04-4683-8D00-31B9700040BA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1857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任务与设计</a:t>
            </a:r>
          </a:p>
        </p:txBody>
      </p:sp>
      <p:sp>
        <p:nvSpPr>
          <p:cNvPr id="4" name="用需求说明和系统流程解释设计选择，说明输入输出与适用条件">
            <a:extLst>
              <a:ext uri="{FF2B5EF4-FFF2-40B4-BE49-F238E27FC236}">
                <a16:creationId xmlns:a16="http://schemas.microsoft.com/office/drawing/2014/main" id="{1932E428-C96D-4E1A-A181-FCEC400FA8B5}"/>
              </a:ext>
            </a:extLst>
          </p:cNvPr>
          <p:cNvSpPr>
            <a:spLocks noGrp="1"/>
          </p:cNvSpPr>
          <p:nvPr/>
        </p:nvSpPr>
        <p:spPr>
          <a:xfrm>
            <a:off x="2809875" y="1600200"/>
            <a:ext cx="8524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用需求说明和系统流程解释设计选择，说明输入输出与适用条件。</a:t>
            </a:r>
          </a:p>
        </p:txBody>
      </p:sp>
      <p:sp>
        <p:nvSpPr>
          <p:cNvPr id="5" name="系统实现">
            <a:extLst>
              <a:ext uri="{FF2B5EF4-FFF2-40B4-BE49-F238E27FC236}">
                <a16:creationId xmlns:a16="http://schemas.microsoft.com/office/drawing/2014/main" id="{CDC454CD-8845-4FD9-A3CF-52E044C40628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857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系统实现</a:t>
            </a:r>
          </a:p>
        </p:txBody>
      </p:sp>
      <p:sp>
        <p:nvSpPr>
          <p:cNvPr id="6" name="提交完整代码，展示实际输入、运行过程与输出，说明异常处理">
            <a:extLst>
              <a:ext uri="{FF2B5EF4-FFF2-40B4-BE49-F238E27FC236}">
                <a16:creationId xmlns:a16="http://schemas.microsoft.com/office/drawing/2014/main" id="{A109C2DF-20FB-4F52-B77B-65D0802557BF}"/>
              </a:ext>
            </a:extLst>
          </p:cNvPr>
          <p:cNvSpPr>
            <a:spLocks noGrp="1"/>
          </p:cNvSpPr>
          <p:nvPr/>
        </p:nvSpPr>
        <p:spPr>
          <a:xfrm>
            <a:off x="2809875" y="2628900"/>
            <a:ext cx="8524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提交完整代码，展示实际输入、运行过程与输出，说明异常处理。</a:t>
            </a:r>
          </a:p>
        </p:txBody>
      </p:sp>
      <p:sp>
        <p:nvSpPr>
          <p:cNvPr id="7" name="效果评估">
            <a:extLst>
              <a:ext uri="{FF2B5EF4-FFF2-40B4-BE49-F238E27FC236}">
                <a16:creationId xmlns:a16="http://schemas.microsoft.com/office/drawing/2014/main" id="{46135831-E6AF-413A-A7FF-D133C2443361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1857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效果评估</a:t>
            </a:r>
          </a:p>
        </p:txBody>
      </p:sp>
      <p:sp>
        <p:nvSpPr>
          <p:cNvPr id="8" name="说明测试数据与指标，展示系统效果，解释一种不理想的情况。">
            <a:extLst>
              <a:ext uri="{FF2B5EF4-FFF2-40B4-BE49-F238E27FC236}">
                <a16:creationId xmlns:a16="http://schemas.microsoft.com/office/drawing/2014/main" id="{1395ECDB-89D5-447F-AF4F-C9B0A2248989}"/>
              </a:ext>
            </a:extLst>
          </p:cNvPr>
          <p:cNvSpPr>
            <a:spLocks noGrp="1"/>
          </p:cNvSpPr>
          <p:nvPr/>
        </p:nvSpPr>
        <p:spPr>
          <a:xfrm>
            <a:off x="2809875" y="3657600"/>
            <a:ext cx="8524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展示功能测试与实际运行结果，分析一种不理想的情况。无需对比其他方法。</a:t>
            </a:r>
          </a:p>
        </p:txBody>
      </p:sp>
      <p:sp>
        <p:nvSpPr>
          <p:cNvPr id="9" name="本人工作">
            <a:extLst>
              <a:ext uri="{FF2B5EF4-FFF2-40B4-BE49-F238E27FC236}">
                <a16:creationId xmlns:a16="http://schemas.microsoft.com/office/drawing/2014/main" id="{AA4A3910-6FC7-412D-8C02-B40CBF1F4A31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1857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本人工作</a:t>
            </a:r>
          </a:p>
        </p:txBody>
      </p:sp>
      <p:sp>
        <p:nvSpPr>
          <p:cNvPr id="10" name="说明本人完成的设计、实现和调整，给出实验记录或结果作为依">
            <a:extLst>
              <a:ext uri="{FF2B5EF4-FFF2-40B4-BE49-F238E27FC236}">
                <a16:creationId xmlns:a16="http://schemas.microsoft.com/office/drawing/2014/main" id="{1E47F47F-2802-4B26-B5EB-B6515402AF29}"/>
              </a:ext>
            </a:extLst>
          </p:cNvPr>
          <p:cNvSpPr>
            <a:spLocks noGrp="1"/>
          </p:cNvSpPr>
          <p:nvPr/>
        </p:nvSpPr>
        <p:spPr>
          <a:xfrm>
            <a:off x="2809875" y="4686300"/>
            <a:ext cx="8524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说明本人完成的设计、实现和调整，给出实验记录或结果作为依据。</a:t>
            </a:r>
          </a:p>
        </p:txBody>
      </p:sp>
    </p:spTree>
    <p:extLst>
      <p:ext uri="{BB962C8B-B14F-4D97-AF65-F5344CB8AC3E}">
        <p14:creationId xmlns:p14="http://schemas.microsoft.com/office/powerpoint/2010/main" val="206587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算法类自主选题要求">
            <a:extLst>
              <a:ext uri="{FF2B5EF4-FFF2-40B4-BE49-F238E27FC236}">
                <a16:creationId xmlns:a16="http://schemas.microsoft.com/office/drawing/2014/main" id="{625615AB-5BD4-40EB-BD2B-68C24A8F4269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算法类自主选题要求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44BC74D8-C824-402E-B682-972F28AC4422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07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F4EA096-0214-4DB4-980B-4D758E4397ED}"/>
              </a:ext>
            </a:extLst>
          </p:cNvPr>
          <p:cNvGraphicFramePr/>
          <p:nvPr/>
        </p:nvGraphicFramePr>
        <p:xfrm>
          <a:off x="666750" y="1524000"/>
          <a:ext cx="10858500" cy="4095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需要自行确定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应说明的问题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应有依据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算法问题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原方法有哪些可以尝试改进的地方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参考资料或自己的初步测试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改进思路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准备改哪里，为什么这样改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自己的理解与方法解释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实现范围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三周内能否完成代码和实验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聚焦一项能实现的小改动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验证方法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怎样判断改动是否有效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相同条件下比较原方法与改进方法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从本人分析或实验中形成问题。结果没有提升，也应如实报告并">
            <a:extLst>
              <a:ext uri="{FF2B5EF4-FFF2-40B4-BE49-F238E27FC236}">
                <a16:creationId xmlns:a16="http://schemas.microsoft.com/office/drawing/2014/main" id="{2FB4BEDD-AA12-4728-A984-C8D45CAA25F0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从本人分析或实验中形成问题。结果没有提升，也应如实报告并解释原因。</a:t>
            </a:r>
          </a:p>
        </p:txBody>
      </p:sp>
    </p:spTree>
    <p:extLst>
      <p:ext uri="{BB962C8B-B14F-4D97-AF65-F5344CB8AC3E}">
        <p14:creationId xmlns:p14="http://schemas.microsoft.com/office/powerpoint/2010/main" val="98193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算法类的实验设计">
            <a:extLst>
              <a:ext uri="{FF2B5EF4-FFF2-40B4-BE49-F238E27FC236}">
                <a16:creationId xmlns:a16="http://schemas.microsoft.com/office/drawing/2014/main" id="{EA02C048-6F96-49B5-86C8-C25CF6784E4F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算法类的实验设计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3A08529D-2CED-4CB6-996D-9F3973AFE522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08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43C47B5-5973-43C2-A67F-EA9880837408}"/>
              </a:ext>
            </a:extLst>
          </p:cNvPr>
          <p:cNvGraphicFramePr/>
          <p:nvPr/>
        </p:nvGraphicFramePr>
        <p:xfrm>
          <a:off x="666750" y="1524000"/>
          <a:ext cx="10858500" cy="409956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实验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回答的问题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基本要求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基本比较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改进后有什么变化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相同测试数据与评价指标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结果展示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变化体现在哪里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填写实测数值，展示同一输入的对比图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问题分析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什么情况下效果不理想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分析至少一种真实情况及可能原因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选做内容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希望进一步了解什么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可做模块拆分或参数分析，无需另设章节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只有一项改动时，原方法与改进方法的一组比较即可，无需再做">
            <a:extLst>
              <a:ext uri="{FF2B5EF4-FFF2-40B4-BE49-F238E27FC236}">
                <a16:creationId xmlns:a16="http://schemas.microsoft.com/office/drawing/2014/main" id="{27B45804-122E-4A45-BDF7-7421BD6CB8CA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只有一项改动时，原方法与改进方法的一组比较即可，无需再做复杂消融。</a:t>
            </a:r>
          </a:p>
        </p:txBody>
      </p:sp>
    </p:spTree>
    <p:extLst>
      <p:ext uri="{BB962C8B-B14F-4D97-AF65-F5344CB8AC3E}">
        <p14:creationId xmlns:p14="http://schemas.microsoft.com/office/powerpoint/2010/main" val="68802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共同的实验要求">
            <a:extLst>
              <a:ext uri="{FF2B5EF4-FFF2-40B4-BE49-F238E27FC236}">
                <a16:creationId xmlns:a16="http://schemas.microsoft.com/office/drawing/2014/main" id="{86A34969-1D1B-4AF9-BEF7-EA36D0E5C4C9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共同的实验要求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46963815-DDFC-485B-8E99-26953354EA7A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09</a:t>
            </a:r>
          </a:p>
        </p:txBody>
      </p:sp>
      <p:sp>
        <p:nvSpPr>
          <p:cNvPr id="3" name="数据独立">
            <a:extLst>
              <a:ext uri="{FF2B5EF4-FFF2-40B4-BE49-F238E27FC236}">
                <a16:creationId xmlns:a16="http://schemas.microsoft.com/office/drawing/2014/main" id="{CDC903F1-C560-4559-9C85-4A63F038B1CF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1809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数据独立</a:t>
            </a:r>
          </a:p>
        </p:txBody>
      </p:sp>
      <p:sp>
        <p:nvSpPr>
          <p:cNvPr id="4" name="将调参数据与测试数据分开。相邻视频帧和同一对象样本应成组">
            <a:extLst>
              <a:ext uri="{FF2B5EF4-FFF2-40B4-BE49-F238E27FC236}">
                <a16:creationId xmlns:a16="http://schemas.microsoft.com/office/drawing/2014/main" id="{7335E097-B6D0-4431-81C7-2990791672D1}"/>
              </a:ext>
            </a:extLst>
          </p:cNvPr>
          <p:cNvSpPr>
            <a:spLocks noGrp="1"/>
          </p:cNvSpPr>
          <p:nvPr/>
        </p:nvSpPr>
        <p:spPr>
          <a:xfrm>
            <a:off x="2762250" y="160020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将调参数据与测试数据分开。相邻视频帧和同一对象样本应成组划分。</a:t>
            </a:r>
          </a:p>
        </p:txBody>
      </p:sp>
      <p:sp>
        <p:nvSpPr>
          <p:cNvPr id="5" name="比较公平">
            <a:extLst>
              <a:ext uri="{FF2B5EF4-FFF2-40B4-BE49-F238E27FC236}">
                <a16:creationId xmlns:a16="http://schemas.microsoft.com/office/drawing/2014/main" id="{D6D2A340-5CD1-4A27-8E5C-4D4B47C6D27E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809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测试说明</a:t>
            </a:r>
          </a:p>
        </p:txBody>
      </p:sp>
      <p:sp>
        <p:nvSpPr>
          <p:cNvPr id="6" name="相同测试输入与指标，报告硬件、输入尺寸、关键参数和耗时范">
            <a:extLst>
              <a:ext uri="{FF2B5EF4-FFF2-40B4-BE49-F238E27FC236}">
                <a16:creationId xmlns:a16="http://schemas.microsoft.com/office/drawing/2014/main" id="{F347EAC3-A605-486A-BAEE-14F3B31BC13E}"/>
              </a:ext>
            </a:extLst>
          </p:cNvPr>
          <p:cNvSpPr>
            <a:spLocks noGrp="1"/>
          </p:cNvSpPr>
          <p:nvPr/>
        </p:nvSpPr>
        <p:spPr>
          <a:xfrm>
            <a:off x="2762250" y="262890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说明测试条件、运行环境、输入尺寸与关键参数，按需报告运行耗时。</a:t>
            </a:r>
          </a:p>
        </p:txBody>
      </p:sp>
      <p:sp>
        <p:nvSpPr>
          <p:cNvPr id="7" name="指标适用">
            <a:extLst>
              <a:ext uri="{FF2B5EF4-FFF2-40B4-BE49-F238E27FC236}">
                <a16:creationId xmlns:a16="http://schemas.microsoft.com/office/drawing/2014/main" id="{905BCDF4-FCA8-4E47-8447-84BD690A6319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1809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指标适用</a:t>
            </a:r>
          </a:p>
        </p:txBody>
      </p:sp>
      <p:sp>
        <p:nvSpPr>
          <p:cNvPr id="8" name="选择适合任务的主要指标，说明含义、单位和统计方式。">
            <a:extLst>
              <a:ext uri="{FF2B5EF4-FFF2-40B4-BE49-F238E27FC236}">
                <a16:creationId xmlns:a16="http://schemas.microsoft.com/office/drawing/2014/main" id="{AAC76975-FF94-4A2C-93F8-C19E16659CA7}"/>
              </a:ext>
            </a:extLst>
          </p:cNvPr>
          <p:cNvSpPr>
            <a:spLocks noGrp="1"/>
          </p:cNvSpPr>
          <p:nvPr/>
        </p:nvSpPr>
        <p:spPr>
          <a:xfrm>
            <a:off x="2762250" y="365760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选择适合任务的主要指标，说明含义、单位和统计方式。</a:t>
            </a:r>
          </a:p>
        </p:txBody>
      </p:sp>
      <p:sp>
        <p:nvSpPr>
          <p:cNvPr id="9" name="结论克制">
            <a:extLst>
              <a:ext uri="{FF2B5EF4-FFF2-40B4-BE49-F238E27FC236}">
                <a16:creationId xmlns:a16="http://schemas.microsoft.com/office/drawing/2014/main" id="{11A1CDEB-5B00-4B7C-A594-7B4938F628FF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1809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结论克制</a:t>
            </a:r>
          </a:p>
        </p:txBody>
      </p:sp>
      <p:sp>
        <p:nvSpPr>
          <p:cNvPr id="10" name="展示总体结果与失败案例。只将已验证的现象写入结论。">
            <a:extLst>
              <a:ext uri="{FF2B5EF4-FFF2-40B4-BE49-F238E27FC236}">
                <a16:creationId xmlns:a16="http://schemas.microsoft.com/office/drawing/2014/main" id="{67031F8E-9A14-497B-BB65-70E73C8E33B9}"/>
              </a:ext>
            </a:extLst>
          </p:cNvPr>
          <p:cNvSpPr>
            <a:spLocks noGrp="1"/>
          </p:cNvSpPr>
          <p:nvPr/>
        </p:nvSpPr>
        <p:spPr>
          <a:xfrm>
            <a:off x="2762250" y="468630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展示总体结果与失败案例。只将已验证的现象写入结论。</a:t>
            </a:r>
          </a:p>
        </p:txBody>
      </p:sp>
    </p:spTree>
    <p:extLst>
      <p:ext uri="{BB962C8B-B14F-4D97-AF65-F5344CB8AC3E}">
        <p14:creationId xmlns:p14="http://schemas.microsoft.com/office/powerpoint/2010/main" val="83883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报告正文只设四章">
            <a:extLst>
              <a:ext uri="{FF2B5EF4-FFF2-40B4-BE49-F238E27FC236}">
                <a16:creationId xmlns:a16="http://schemas.microsoft.com/office/drawing/2014/main" id="{55D85269-62F0-4A6E-982C-73359C307A54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报告正文只设四章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49A6E3B4-DE4B-4734-8A2C-09ABC38D5738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10</a:t>
            </a:r>
          </a:p>
        </p:txBody>
      </p:sp>
      <p:sp>
        <p:nvSpPr>
          <p:cNvPr id="3" name="应用类">
            <a:extLst>
              <a:ext uri="{FF2B5EF4-FFF2-40B4-BE49-F238E27FC236}">
                <a16:creationId xmlns:a16="http://schemas.microsoft.com/office/drawing/2014/main" id="{49A33527-5C15-4B6E-A520-34FCB6CDEC6B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762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应用类</a:t>
            </a:r>
          </a:p>
        </p:txBody>
      </p:sp>
      <p:sp>
        <p:nvSpPr>
          <p:cNvPr id="4" name="算法类">
            <a:extLst>
              <a:ext uri="{FF2B5EF4-FFF2-40B4-BE49-F238E27FC236}">
                <a16:creationId xmlns:a16="http://schemas.microsoft.com/office/drawing/2014/main" id="{98E9C3A8-FDD5-46B7-AF55-3A1B4E25C871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4762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4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算法类</a:t>
            </a:r>
          </a:p>
        </p:txBody>
      </p:sp>
      <p:sp>
        <p:nvSpPr>
          <p:cNvPr id="5" name="摘要&#10;1  应用背景与目标&#10;2  系统设计与实现&#10;3  ">
            <a:extLst>
              <a:ext uri="{FF2B5EF4-FFF2-40B4-BE49-F238E27FC236}">
                <a16:creationId xmlns:a16="http://schemas.microsoft.com/office/drawing/2014/main" id="{E55B9AA7-55DC-439E-A64E-062B40E3C997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495300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摘要</a:t>
            </a: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1  应用背景与目标</a:t>
            </a: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2  系统设计与实现</a:t>
            </a: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3  测试结果与分析</a:t>
            </a: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4  总结与体会</a:t>
            </a:r>
          </a:p>
          <a:p>
            <a:endParaRPr sz="2175" b="0">
              <a:solidFill>
                <a:srgbClr val="182D43"/>
              </a:solidFill>
              <a:latin typeface="Heiti SC"/>
              <a:ea typeface="Heiti SC"/>
              <a:cs typeface="Heiti SC"/>
            </a:endParaRP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参考文献</a:t>
            </a:r>
          </a:p>
        </p:txBody>
      </p:sp>
      <p:sp>
        <p:nvSpPr>
          <p:cNvPr id="6" name="摘要&#10;1  问题与改进思路&#10;2  算法原理与实现&#10;3  ">
            <a:extLst>
              <a:ext uri="{FF2B5EF4-FFF2-40B4-BE49-F238E27FC236}">
                <a16:creationId xmlns:a16="http://schemas.microsoft.com/office/drawing/2014/main" id="{4717A18B-482F-4591-A9D2-3369FC8A3966}"/>
              </a:ext>
            </a:extLst>
          </p:cNvPr>
          <p:cNvSpPr>
            <a:spLocks noGrp="1"/>
          </p:cNvSpPr>
          <p:nvPr/>
        </p:nvSpPr>
        <p:spPr>
          <a:xfrm>
            <a:off x="6381750" y="2133600"/>
            <a:ext cx="495300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摘要</a:t>
            </a: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1  问题与改进思路</a:t>
            </a: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2  算法原理与实现</a:t>
            </a: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3  实验结果与分析</a:t>
            </a: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4  总结与体会</a:t>
            </a:r>
          </a:p>
          <a:p>
            <a:endParaRPr sz="2175" b="0">
              <a:solidFill>
                <a:srgbClr val="182D43"/>
              </a:solidFill>
              <a:latin typeface="Heiti SC"/>
              <a:ea typeface="Heiti SC"/>
              <a:cs typeface="Heiti SC"/>
            </a:endParaRPr>
          </a:p>
          <a:p>
            <a:pPr algn="l">
              <a:lnSpc>
                <a:spcPct val="118000"/>
              </a:lnSpc>
              <a:buNone/>
              <a:defRPr sz="217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参考文献</a:t>
            </a:r>
          </a:p>
        </p:txBody>
      </p:sp>
      <p:sp>
        <p:nvSpPr>
          <p:cNvPr id="7" name="不强制设置小节。方法与实验是重点，相关资料简述即可，运行">
            <a:extLst>
              <a:ext uri="{FF2B5EF4-FFF2-40B4-BE49-F238E27FC236}">
                <a16:creationId xmlns:a16="http://schemas.microsoft.com/office/drawing/2014/main" id="{B77AE4F7-16C0-41E2-8231-2369E08BE728}"/>
              </a:ext>
            </a:extLst>
          </p:cNvPr>
          <p:cNvSpPr>
            <a:spLocks noGrp="1"/>
          </p:cNvSpPr>
          <p:nvPr/>
        </p:nvSpPr>
        <p:spPr>
          <a:xfrm>
            <a:off x="666750" y="59436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不强制设置小节。方法与实验是重点，相关资料简述即可，运行说明放README。</a:t>
            </a:r>
          </a:p>
        </p:txBody>
      </p:sp>
    </p:spTree>
    <p:extLst>
      <p:ext uri="{BB962C8B-B14F-4D97-AF65-F5344CB8AC3E}">
        <p14:creationId xmlns:p14="http://schemas.microsoft.com/office/powerpoint/2010/main" val="1261853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报告篇幅与排版">
            <a:extLst>
              <a:ext uri="{FF2B5EF4-FFF2-40B4-BE49-F238E27FC236}">
                <a16:creationId xmlns:a16="http://schemas.microsoft.com/office/drawing/2014/main" id="{F56B824B-8CA2-4333-8BA7-B49588CAA878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报告篇幅与排版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640CE022-4220-4B57-AB47-05AB4D2A3FF4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11</a:t>
            </a:r>
          </a:p>
        </p:txBody>
      </p:sp>
      <p:sp>
        <p:nvSpPr>
          <p:cNvPr id="3" name="正文 8–10 页">
            <a:extLst>
              <a:ext uri="{FF2B5EF4-FFF2-40B4-BE49-F238E27FC236}">
                <a16:creationId xmlns:a16="http://schemas.microsoft.com/office/drawing/2014/main" id="{CE84F4AA-D3BA-41A7-8B97-2F043FC0E08D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10763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97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3975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正文 8–10 页</a:t>
            </a:r>
          </a:p>
        </p:txBody>
      </p:sp>
      <p:sp>
        <p:nvSpPr>
          <p:cNvPr id="4" name="封面和参考文献不计入，摘要计入正文，正文最多10页。">
            <a:extLst>
              <a:ext uri="{FF2B5EF4-FFF2-40B4-BE49-F238E27FC236}">
                <a16:creationId xmlns:a16="http://schemas.microsoft.com/office/drawing/2014/main" id="{6E225842-0E5D-4911-B933-DF69E6B00755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25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封面和参考文献不计入，摘要计入正文，正文最多10页。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C39690B-0A46-45D4-A3A0-0C215566A339}"/>
              </a:ext>
            </a:extLst>
          </p:cNvPr>
          <p:cNvGraphicFramePr/>
          <p:nvPr/>
        </p:nvGraphicFramePr>
        <p:xfrm>
          <a:off x="666750" y="3095625"/>
          <a:ext cx="10858500" cy="2571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项目</a:t>
                      </a:r>
                    </a:p>
                  </a:txBody>
                  <a:tcPr marL="142875" marR="114300" marT="76200" marB="571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统一要求</a:t>
                      </a:r>
                    </a:p>
                  </a:txBody>
                  <a:tcPr marL="142875" marR="114300" marT="76200" marB="571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页面</a:t>
                      </a:r>
                    </a:p>
                  </a:txBody>
                  <a:tcPr marL="142875" marR="114300" marT="76200" marB="571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A4纵向，单栏</a:t>
                      </a:r>
                    </a:p>
                  </a:txBody>
                  <a:tcPr marL="142875" marR="114300" marT="76200" marB="571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正文</a:t>
                      </a:r>
                    </a:p>
                  </a:txBody>
                  <a:tcPr marL="142875" marR="114300" marT="76200" marB="571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中文宋体10 pt，英文Times New Roman 10 pt，1.2倍行距</a:t>
                      </a:r>
                    </a:p>
                  </a:txBody>
                  <a:tcPr marL="142875" marR="114300" marT="76200" marB="571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标题与图表</a:t>
                      </a:r>
                    </a:p>
                  </a:txBody>
                  <a:tcPr marL="142875" marR="114300" marT="76200" marB="571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标题用微软雅黑，一级13 pt、二级11 pt，图表题9 pt</a:t>
                      </a:r>
                    </a:p>
                  </a:txBody>
                  <a:tcPr marL="142875" marR="114300" marT="76200" marB="571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引用与文献</a:t>
                      </a:r>
                    </a:p>
                  </a:txBody>
                  <a:tcPr marL="142875" marR="114300" marT="76200" marB="571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引用按[1]、[2]编号，参考文献另起页</a:t>
                      </a:r>
                    </a:p>
                  </a:txBody>
                  <a:tcPr marL="142875" marR="114300" marT="76200" marB="571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具体字号、缩进、图表位置与参考文献格式详见Word模板首">
            <a:extLst>
              <a:ext uri="{FF2B5EF4-FFF2-40B4-BE49-F238E27FC236}">
                <a16:creationId xmlns:a16="http://schemas.microsoft.com/office/drawing/2014/main" id="{7E5E8F42-059B-4A3D-B5B9-EB4DAEC14918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具体字号、缩进、图表位置与参考文献格式详见Word模板首张说明页。</a:t>
            </a:r>
          </a:p>
        </p:txBody>
      </p:sp>
    </p:spTree>
    <p:extLst>
      <p:ext uri="{BB962C8B-B14F-4D97-AF65-F5344CB8AC3E}">
        <p14:creationId xmlns:p14="http://schemas.microsoft.com/office/powerpoint/2010/main" val="920738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校徽封面与带提示的Word模板">
            <a:extLst>
              <a:ext uri="{FF2B5EF4-FFF2-40B4-BE49-F238E27FC236}">
                <a16:creationId xmlns:a16="http://schemas.microsoft.com/office/drawing/2014/main" id="{FE42B45C-C04A-4E8B-A05D-C6C6F355F9EF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校徽封面与带提示的Word模板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7B9B6F03-98AD-458C-8A63-98E3F97EA2EB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12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13AE90-3AB7-4ECB-B8DB-B197656944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7412" y="1400175"/>
            <a:ext cx="3138126" cy="4438650"/>
          </a:xfrm>
          <a:prstGeom prst="rect">
            <a:avLst/>
          </a:prstGeom>
        </p:spPr>
      </p:pic>
      <p:sp>
        <p:nvSpPr>
          <p:cNvPr id="4" name="封面字段">
            <a:extLst>
              <a:ext uri="{FF2B5EF4-FFF2-40B4-BE49-F238E27FC236}">
                <a16:creationId xmlns:a16="http://schemas.microsoft.com/office/drawing/2014/main" id="{8911624D-40BC-4B76-8470-554367091FA3}"/>
              </a:ext>
            </a:extLst>
          </p:cNvPr>
          <p:cNvSpPr>
            <a:spLocks noGrp="1"/>
          </p:cNvSpPr>
          <p:nvPr/>
        </p:nvSpPr>
        <p:spPr>
          <a:xfrm>
            <a:off x="4476750" y="1685925"/>
            <a:ext cx="1524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封面字段</a:t>
            </a:r>
          </a:p>
        </p:txBody>
      </p:sp>
      <p:sp>
        <p:nvSpPr>
          <p:cNvPr id="5" name="报告题目、选题类别、姓名、学号。&#10;专业班级、学院、任课教">
            <a:extLst>
              <a:ext uri="{FF2B5EF4-FFF2-40B4-BE49-F238E27FC236}">
                <a16:creationId xmlns:a16="http://schemas.microsoft.com/office/drawing/2014/main" id="{D4B0665B-C55E-4478-A1AE-FD14AA1772F6}"/>
              </a:ext>
            </a:extLst>
          </p:cNvPr>
          <p:cNvSpPr>
            <a:spLocks noGrp="1"/>
          </p:cNvSpPr>
          <p:nvPr/>
        </p:nvSpPr>
        <p:spPr>
          <a:xfrm>
            <a:off x="6286500" y="1685925"/>
            <a:ext cx="5048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报告题目、选题类别、姓名、学号。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专业班级、学院、任课教师、日期。</a:t>
            </a:r>
          </a:p>
        </p:txBody>
      </p:sp>
      <p:sp>
        <p:nvSpPr>
          <p:cNvPr id="6" name="模板使用">
            <a:extLst>
              <a:ext uri="{FF2B5EF4-FFF2-40B4-BE49-F238E27FC236}">
                <a16:creationId xmlns:a16="http://schemas.microsoft.com/office/drawing/2014/main" id="{319D4415-79F2-49A4-B7EE-4356C180F6E1}"/>
              </a:ext>
            </a:extLst>
          </p:cNvPr>
          <p:cNvSpPr>
            <a:spLocks noGrp="1"/>
          </p:cNvSpPr>
          <p:nvPr/>
        </p:nvSpPr>
        <p:spPr>
          <a:xfrm>
            <a:off x="4476750" y="3067050"/>
            <a:ext cx="1524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模板使用</a:t>
            </a:r>
          </a:p>
        </p:txBody>
      </p:sp>
      <p:sp>
        <p:nvSpPr>
          <p:cNvPr id="7" name="按章节填写自己的内容。&#10;填写图表，删除提示与占位文字。">
            <a:extLst>
              <a:ext uri="{FF2B5EF4-FFF2-40B4-BE49-F238E27FC236}">
                <a16:creationId xmlns:a16="http://schemas.microsoft.com/office/drawing/2014/main" id="{D102B3F5-33D4-482C-880C-61580C8D65D2}"/>
              </a:ext>
            </a:extLst>
          </p:cNvPr>
          <p:cNvSpPr>
            <a:spLocks noGrp="1"/>
          </p:cNvSpPr>
          <p:nvPr/>
        </p:nvSpPr>
        <p:spPr>
          <a:xfrm>
            <a:off x="6286500" y="3067050"/>
            <a:ext cx="5048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按章节填写自己的内容。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填写图表，删除提示与占位文字。</a:t>
            </a:r>
          </a:p>
        </p:txBody>
      </p:sp>
      <p:sp>
        <p:nvSpPr>
          <p:cNvPr id="8" name="提交前检查">
            <a:extLst>
              <a:ext uri="{FF2B5EF4-FFF2-40B4-BE49-F238E27FC236}">
                <a16:creationId xmlns:a16="http://schemas.microsoft.com/office/drawing/2014/main" id="{DDA40BD8-853B-4785-86B9-331C381AC628}"/>
              </a:ext>
            </a:extLst>
          </p:cNvPr>
          <p:cNvSpPr>
            <a:spLocks noGrp="1"/>
          </p:cNvSpPr>
          <p:nvPr/>
        </p:nvSpPr>
        <p:spPr>
          <a:xfrm>
            <a:off x="4476750" y="4448175"/>
            <a:ext cx="1524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0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提交前检查</a:t>
            </a:r>
          </a:p>
        </p:txBody>
      </p:sp>
      <p:sp>
        <p:nvSpPr>
          <p:cNvPr id="9" name="删除说明页，核对正文页数。&#10;检查引用、图表和最终打印效果">
            <a:extLst>
              <a:ext uri="{FF2B5EF4-FFF2-40B4-BE49-F238E27FC236}">
                <a16:creationId xmlns:a16="http://schemas.microsoft.com/office/drawing/2014/main" id="{46303F90-43E8-49B6-A6B8-A87AA39A7563}"/>
              </a:ext>
            </a:extLst>
          </p:cNvPr>
          <p:cNvSpPr>
            <a:spLocks noGrp="1"/>
          </p:cNvSpPr>
          <p:nvPr/>
        </p:nvSpPr>
        <p:spPr>
          <a:xfrm>
            <a:off x="6286500" y="4448175"/>
            <a:ext cx="5048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删除说明页，核对正文页数。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检查引用、图表和报告内容。</a:t>
            </a:r>
          </a:p>
        </p:txBody>
      </p:sp>
    </p:spTree>
    <p:extLst>
      <p:ext uri="{BB962C8B-B14F-4D97-AF65-F5344CB8AC3E}">
        <p14:creationId xmlns:p14="http://schemas.microsoft.com/office/powerpoint/2010/main" val="1159814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代码包与README">
            <a:extLst>
              <a:ext uri="{FF2B5EF4-FFF2-40B4-BE49-F238E27FC236}">
                <a16:creationId xmlns:a16="http://schemas.microsoft.com/office/drawing/2014/main" id="{483953EA-DE31-4958-A4E8-CD800E280BFE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代码包与README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17AA79D0-2D91-411E-A7D0-F008C01A217A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13</a:t>
            </a:r>
          </a:p>
        </p:txBody>
      </p:sp>
      <p:sp>
        <p:nvSpPr>
          <p:cNvPr id="3" name="建议的代码包内容">
            <a:extLst>
              <a:ext uri="{FF2B5EF4-FFF2-40B4-BE49-F238E27FC236}">
                <a16:creationId xmlns:a16="http://schemas.microsoft.com/office/drawing/2014/main" id="{9A979D38-03AC-4E18-8D87-51BAEA569480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建议的代码包内容</a:t>
            </a:r>
          </a:p>
        </p:txBody>
      </p:sp>
      <p:sp>
        <p:nvSpPr>
          <p:cNvPr id="4" name="src/                 源代码&#10;con">
            <a:extLst>
              <a:ext uri="{FF2B5EF4-FFF2-40B4-BE49-F238E27FC236}">
                <a16:creationId xmlns:a16="http://schemas.microsoft.com/office/drawing/2014/main" id="{8F3B6413-C145-4156-A5C2-AE261EE247C9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04825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src/                 源代码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configs/          参数配置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scripts/           运行与评价入口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results/           主要输出与结果表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README.md   安装与复现步骤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依赖文件         requirements或environment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DATA.md         数据来源与获取说明</a:t>
            </a:r>
          </a:p>
        </p:txBody>
      </p:sp>
      <p:sp>
        <p:nvSpPr>
          <p:cNvPr id="5" name="README需要写清">
            <a:extLst>
              <a:ext uri="{FF2B5EF4-FFF2-40B4-BE49-F238E27FC236}">
                <a16:creationId xmlns:a16="http://schemas.microsoft.com/office/drawing/2014/main" id="{EAAA487D-DEE7-4600-9A7D-FDE018A85CC6}"/>
              </a:ext>
            </a:extLst>
          </p:cNvPr>
          <p:cNvSpPr>
            <a:spLocks noGrp="1"/>
          </p:cNvSpPr>
          <p:nvPr/>
        </p:nvSpPr>
        <p:spPr>
          <a:xfrm>
            <a:off x="6524625" y="14954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325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README需要写清</a:t>
            </a:r>
          </a:p>
        </p:txBody>
      </p:sp>
      <p:sp>
        <p:nvSpPr>
          <p:cNvPr id="6" name="环境和依赖版本&#10;数据与模型权重的放置方式&#10;程序与测试的运">
            <a:extLst>
              <a:ext uri="{FF2B5EF4-FFF2-40B4-BE49-F238E27FC236}">
                <a16:creationId xmlns:a16="http://schemas.microsoft.com/office/drawing/2014/main" id="{8E4980F8-CBCA-4B69-B3D2-828C7497A37D}"/>
              </a:ext>
            </a:extLst>
          </p:cNvPr>
          <p:cNvSpPr>
            <a:spLocks noGrp="1"/>
          </p:cNvSpPr>
          <p:nvPr/>
        </p:nvSpPr>
        <p:spPr>
          <a:xfrm>
            <a:off x="6524625" y="2143125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环境和依赖版本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数据与模型权重的放置方式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程序与测试的运行命令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输出文件与报告图表的对应关系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开源代码、权重来源与本人修改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训练入口与评价入口（如适用）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AI工具使用环节与本人核验方式</a:t>
            </a:r>
          </a:p>
        </p:txBody>
      </p:sp>
      <p:sp>
        <p:nvSpPr>
          <p:cNvPr id="7" name="源代码须可运行。大文件提供获取方式或可验证的替代方案，提">
            <a:extLst>
              <a:ext uri="{FF2B5EF4-FFF2-40B4-BE49-F238E27FC236}">
                <a16:creationId xmlns:a16="http://schemas.microsoft.com/office/drawing/2014/main" id="{882B790A-82DA-4B5E-8691-905D6CC38AE4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源代码须可运行。大文件提供获取方式或可验证的替代方案，提交位置以课程通知为准。</a:t>
            </a:r>
          </a:p>
        </p:txBody>
      </p:sp>
    </p:spTree>
    <p:extLst>
      <p:ext uri="{BB962C8B-B14F-4D97-AF65-F5344CB8AC3E}">
        <p14:creationId xmlns:p14="http://schemas.microsoft.com/office/powerpoint/2010/main" val="117923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评分建议">
            <a:extLst>
              <a:ext uri="{FF2B5EF4-FFF2-40B4-BE49-F238E27FC236}">
                <a16:creationId xmlns:a16="http://schemas.microsoft.com/office/drawing/2014/main" id="{303EA8BD-B8EE-4430-9F03-AE51364280CD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评分建议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64285B0C-C0DC-4BEF-95D6-945EC3362545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14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F4C42AF-752C-43D6-8B53-DCE85F8C2F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81253"/>
              </p:ext>
            </p:extLst>
          </p:nvPr>
        </p:nvGraphicFramePr>
        <p:xfrm>
          <a:off x="666750" y="1523999"/>
          <a:ext cx="10858500" cy="383973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7947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评价维度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分值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应用类重点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算法类重点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18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94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问题与选题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15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应用需求与任务目标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问题与改进思路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94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方法与本人工作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3</a:t>
                      </a:r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5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系统设计与代码实现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改动理由与代码实现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794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实验与分析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3</a:t>
                      </a:r>
                      <a:r>
                        <a:rPr lang="en-US" altLang="zh-CN"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5</a:t>
                      </a:r>
                      <a:endParaRPr sz="1800" b="0">
                        <a:solidFill>
                          <a:srgbClr val="182D43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功能测试、实际效果与不足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原方法比较、结果解释与不足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794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报告质量</a:t>
                      </a:r>
                    </a:p>
                  </a:txBody>
                  <a:tcPr marL="142875" marR="114300" marT="133350" marB="95250" anchor="ctr">
                    <a:lnL w="9525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15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结构、表达、图表与引用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D43"/>
                          </a:solidFill>
                          <a:latin typeface="Heiti SC"/>
                          <a:ea typeface="Heiti SC"/>
                          <a:cs typeface="Heiti SC"/>
                        </a:rPr>
                        <a:t>结构、表达、图表与引用</a:t>
                      </a:r>
                    </a:p>
                  </a:txBody>
                  <a:tcPr marL="142875" marR="114300" marT="133350" marB="95250" anchor="ctr">
                    <a:lnL w="9525" cmpd="sng">
                      <a:solidFill>
                        <a:srgbClr val="CCD8E2"/>
                      </a:solidFill>
                      <a:prstDash val="solid"/>
                    </a:lnL>
                    <a:lnR w="9525">
                      <a:solidFill>
                        <a:srgbClr val="CCD8E2"/>
                      </a:solidFill>
                      <a:prstDash val="solid"/>
                    </a:lnR>
                    <a:lnT w="9525" cmpd="sng">
                      <a:solidFill>
                        <a:srgbClr val="CCD8E2"/>
                      </a:solidFill>
                      <a:prstDash val="solid"/>
                    </a:lnT>
                    <a:lnB w="9525">
                      <a:solidFill>
                        <a:srgbClr val="CCD8E2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合计100分。本页为建议比例，教师可在发布前调整。">
            <a:extLst>
              <a:ext uri="{FF2B5EF4-FFF2-40B4-BE49-F238E27FC236}">
                <a16:creationId xmlns:a16="http://schemas.microsoft.com/office/drawing/2014/main" id="{82B839AE-A533-4758-984C-B578934A00DB}"/>
              </a:ext>
            </a:extLst>
          </p:cNvPr>
          <p:cNvSpPr>
            <a:spLocks noGrp="1"/>
          </p:cNvSpPr>
          <p:nvPr/>
        </p:nvSpPr>
        <p:spPr>
          <a:xfrm>
            <a:off x="666750" y="58483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合计100分。本页为建议比例，教师可在发布前调整。</a:t>
            </a:r>
          </a:p>
        </p:txBody>
      </p:sp>
    </p:spTree>
    <p:extLst>
      <p:ext uri="{BB962C8B-B14F-4D97-AF65-F5344CB8AC3E}">
        <p14:creationId xmlns:p14="http://schemas.microsoft.com/office/powerpoint/2010/main" val="204657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提交清单与独立完成声明">
            <a:extLst>
              <a:ext uri="{FF2B5EF4-FFF2-40B4-BE49-F238E27FC236}">
                <a16:creationId xmlns:a16="http://schemas.microsoft.com/office/drawing/2014/main" id="{DBEDE6C4-F603-416A-A015-0016EE99E769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提交清单与独立完成声明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DE721530-C631-45D6-B34B-747DBD50C87A}"/>
              </a:ext>
            </a:extLst>
          </p:cNvPr>
          <p:cNvSpPr>
            <a:spLocks noGrp="1"/>
          </p:cNvSpPr>
          <p:nvPr/>
        </p:nvSpPr>
        <p:spPr>
          <a:xfrm>
            <a:off x="11096625" y="63627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defPPr>
            <a:lvl1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1pPr>
            <a:lvl2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2pPr>
            <a:lvl3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3pPr>
            <a:lvl4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4pPr>
            <a:lvl5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5pPr>
            <a:lvl6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6pPr>
            <a:lvl7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7pPr>
            <a:lvl8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8pPr>
            <a:lvl9pPr algn="r"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lnSpc>
                <a:spcPct val="118000"/>
              </a:lnSpc>
              <a:buNone/>
              <a:defRPr sz="1200" b="0">
                <a:solidFill>
                  <a:srgbClr val="536678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536678"/>
                </a:solidFill>
                <a:latin typeface="Heiti SC"/>
                <a:ea typeface="Heiti SC"/>
                <a:cs typeface="Heiti SC"/>
              </a:rPr>
              <a:t>15</a:t>
            </a:r>
          </a:p>
        </p:txBody>
      </p:sp>
      <p:sp>
        <p:nvSpPr>
          <p:cNvPr id="3" name="纸质报告">
            <a:extLst>
              <a:ext uri="{FF2B5EF4-FFF2-40B4-BE49-F238E27FC236}">
                <a16:creationId xmlns:a16="http://schemas.microsoft.com/office/drawing/2014/main" id="{242CA35D-71B6-4F12-85E0-005A5A2E4A03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1857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报告</a:t>
            </a:r>
          </a:p>
        </p:txBody>
      </p:sp>
      <p:sp>
        <p:nvSpPr>
          <p:cNvPr id="4" name="封面填写完整，正文8–10页，参考文献另列。&#10;说明页、写">
            <a:extLst>
              <a:ext uri="{FF2B5EF4-FFF2-40B4-BE49-F238E27FC236}">
                <a16:creationId xmlns:a16="http://schemas.microsoft.com/office/drawing/2014/main" id="{E52BB892-367E-41E2-86E7-440B833BD51D}"/>
              </a:ext>
            </a:extLst>
          </p:cNvPr>
          <p:cNvSpPr>
            <a:spLocks noGrp="1"/>
          </p:cNvSpPr>
          <p:nvPr/>
        </p:nvSpPr>
        <p:spPr>
          <a:xfrm>
            <a:off x="2809875" y="1600200"/>
            <a:ext cx="8524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封面填写完整，正文8–10页，参考文献另列。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说明页、写作提示与占位内容已删除。</a:t>
            </a:r>
          </a:p>
        </p:txBody>
      </p:sp>
      <p:sp>
        <p:nvSpPr>
          <p:cNvPr id="5" name="代码材料">
            <a:extLst>
              <a:ext uri="{FF2B5EF4-FFF2-40B4-BE49-F238E27FC236}">
                <a16:creationId xmlns:a16="http://schemas.microsoft.com/office/drawing/2014/main" id="{66C76313-E179-4855-B8C9-9BDEE590993E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857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代码材料</a:t>
            </a:r>
          </a:p>
        </p:txBody>
      </p:sp>
      <p:sp>
        <p:nvSpPr>
          <p:cNvPr id="6" name="源代码、依赖、数据获取说明、配置、运行命令与主要结果均齐">
            <a:extLst>
              <a:ext uri="{FF2B5EF4-FFF2-40B4-BE49-F238E27FC236}">
                <a16:creationId xmlns:a16="http://schemas.microsoft.com/office/drawing/2014/main" id="{D9785EA1-2210-48B3-A653-4C51A7020987}"/>
              </a:ext>
            </a:extLst>
          </p:cNvPr>
          <p:cNvSpPr>
            <a:spLocks noGrp="1"/>
          </p:cNvSpPr>
          <p:nvPr/>
        </p:nvSpPr>
        <p:spPr>
          <a:xfrm>
            <a:off x="2809875" y="2628900"/>
            <a:ext cx="8524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源代码、依赖、数据获取说明、配置、运行命令与主要结果均齐全。</a:t>
            </a:r>
          </a:p>
        </p:txBody>
      </p:sp>
      <p:sp>
        <p:nvSpPr>
          <p:cNvPr id="7" name="内容一致">
            <a:extLst>
              <a:ext uri="{FF2B5EF4-FFF2-40B4-BE49-F238E27FC236}">
                <a16:creationId xmlns:a16="http://schemas.microsoft.com/office/drawing/2014/main" id="{980C7E11-3B70-4CD5-94E0-E134471B6CCE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1857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内容一致</a:t>
            </a:r>
          </a:p>
        </p:txBody>
      </p:sp>
      <p:sp>
        <p:nvSpPr>
          <p:cNvPr id="8" name="报告中的数值、图表与提交代码一致，已实际执行复现步骤。">
            <a:extLst>
              <a:ext uri="{FF2B5EF4-FFF2-40B4-BE49-F238E27FC236}">
                <a16:creationId xmlns:a16="http://schemas.microsoft.com/office/drawing/2014/main" id="{B7CD2F74-FB89-4BFE-93FA-2FD37ADF35BB}"/>
              </a:ext>
            </a:extLst>
          </p:cNvPr>
          <p:cNvSpPr>
            <a:spLocks noGrp="1"/>
          </p:cNvSpPr>
          <p:nvPr/>
        </p:nvSpPr>
        <p:spPr>
          <a:xfrm>
            <a:off x="2809875" y="3657600"/>
            <a:ext cx="8524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报告中的数值、图表与提交代码一致，已实际执行复现步骤。</a:t>
            </a:r>
          </a:p>
        </p:txBody>
      </p:sp>
      <p:sp>
        <p:nvSpPr>
          <p:cNvPr id="9" name="严禁抄袭">
            <a:extLst>
              <a:ext uri="{FF2B5EF4-FFF2-40B4-BE49-F238E27FC236}">
                <a16:creationId xmlns:a16="http://schemas.microsoft.com/office/drawing/2014/main" id="{6AA874CA-53A8-4410-B26D-947109E79A47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18573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765A6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765A6"/>
                </a:solidFill>
                <a:latin typeface="Heiti SC"/>
                <a:ea typeface="Heiti SC"/>
                <a:cs typeface="Heiti SC"/>
              </a:rPr>
              <a:t>严禁抄袭</a:t>
            </a:r>
          </a:p>
        </p:txBody>
      </p:sp>
      <p:sp>
        <p:nvSpPr>
          <p:cNvPr id="10" name="独立完成，不得将他人成果冒充本人工作。&#10;引用文字、图表、">
            <a:extLst>
              <a:ext uri="{FF2B5EF4-FFF2-40B4-BE49-F238E27FC236}">
                <a16:creationId xmlns:a16="http://schemas.microsoft.com/office/drawing/2014/main" id="{F5CD3C38-809B-4D00-B779-678897809787}"/>
              </a:ext>
            </a:extLst>
          </p:cNvPr>
          <p:cNvSpPr>
            <a:spLocks noGrp="1"/>
          </p:cNvSpPr>
          <p:nvPr/>
        </p:nvSpPr>
        <p:spPr>
          <a:xfrm>
            <a:off x="2809875" y="4686300"/>
            <a:ext cx="85248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defPPr>
            <a:lvl1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1pPr>
            <a:lvl2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2pPr>
            <a:lvl3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3pPr>
            <a:lvl4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4pPr>
            <a:lvl5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5pPr>
            <a:lvl6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6pPr>
            <a:lvl7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7pPr>
            <a:lvl8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8pPr>
            <a:lvl9pPr algn="l"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独立完成，不得将他人成果冒充本人工作。</a:t>
            </a: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182D43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82D43"/>
                </a:solidFill>
                <a:latin typeface="Heiti SC"/>
                <a:ea typeface="Heiti SC"/>
                <a:cs typeface="Heiti SC"/>
              </a:rPr>
              <a:t>引用文字、图表、代码和模型须注明来源。</a:t>
            </a:r>
          </a:p>
        </p:txBody>
      </p:sp>
    </p:spTree>
    <p:extLst>
      <p:ext uri="{BB962C8B-B14F-4D97-AF65-F5344CB8AC3E}">
        <p14:creationId xmlns:p14="http://schemas.microsoft.com/office/powerpoint/2010/main" val="8955740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536</Words>
  <Application>Microsoft Macintosh PowerPoint</Application>
  <DocSecurity>0</DocSecurity>
  <PresentationFormat>宽屏</PresentationFormat>
  <Paragraphs>215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Heiti SC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宇 谢</cp:lastModifiedBy>
  <cp:revision>5</cp:revision>
  <dcterms:created xsi:type="dcterms:W3CDTF">2026-10-26T02:40:41Z</dcterms:created>
  <dcterms:modified xsi:type="dcterms:W3CDTF">2026-10-26T03:15:43Z</dcterms:modified>
</cp:coreProperties>
</file>